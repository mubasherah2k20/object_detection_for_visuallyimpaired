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4" r:id="rId18"/>
    <p:sldId id="275" r:id="rId19"/>
    <p:sldId id="276" r:id="rId20"/>
    <p:sldId id="273" r:id="rId21"/>
    <p:sldId id="277" r:id="rId22"/>
    <p:sldId id="278" r:id="rId23"/>
    <p:sldId id="279" r:id="rId24"/>
    <p:sldId id="280" r:id="rId25"/>
    <p:sldId id="281" r:id="rId26"/>
    <p:sldId id="282" r:id="rId27"/>
    <p:sldId id="283"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1368" y="-8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BEDBCB4-19B3-46B2-A76D-6DED9C2E0C15}" type="datetimeFigureOut">
              <a:rPr lang="en-US" smtClean="0"/>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0F82D-EA7A-48F3-A176-75C149094F6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BEDBCB4-19B3-46B2-A76D-6DED9C2E0C15}" type="datetimeFigureOut">
              <a:rPr lang="en-US" smtClean="0"/>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0F82D-EA7A-48F3-A176-75C149094F6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BBEDBCB4-19B3-46B2-A76D-6DED9C2E0C15}" type="datetimeFigureOut">
              <a:rPr lang="en-US" smtClean="0"/>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0F82D-EA7A-48F3-A176-75C149094F6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BEDBCB4-19B3-46B2-A76D-6DED9C2E0C15}" type="datetimeFigureOut">
              <a:rPr lang="en-US" smtClean="0"/>
              <a:t>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C0F82D-EA7A-48F3-A176-75C149094F61}" type="slidenum">
              <a:rPr lang="en-US" smtClean="0"/>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BEDBCB4-19B3-46B2-A76D-6DED9C2E0C15}" type="datetimeFigureOut">
              <a:rPr lang="en-US" smtClean="0"/>
              <a:t>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C0F82D-EA7A-48F3-A176-75C149094F6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BEDBCB4-19B3-46B2-A76D-6DED9C2E0C15}" type="datetimeFigureOut">
              <a:rPr lang="en-US" smtClean="0"/>
              <a:t>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C0F82D-EA7A-48F3-A176-75C149094F6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EDBCB4-19B3-46B2-A76D-6DED9C2E0C15}" type="datetimeFigureOut">
              <a:rPr lang="en-US" smtClean="0"/>
              <a:t>1/11/2024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C0F82D-EA7A-48F3-A176-75C149094F6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BBEDBCB4-19B3-46B2-A76D-6DED9C2E0C15}" type="datetimeFigureOut">
              <a:rPr lang="en-US" smtClean="0"/>
              <a:t>1/11/2024</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B9C0F82D-EA7A-48F3-A176-75C149094F6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EDBCB4-19B3-46B2-A76D-6DED9C2E0C15}" type="datetimeFigureOut">
              <a:rPr lang="en-US" smtClean="0"/>
              <a:t>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C0F82D-EA7A-48F3-A176-75C149094F6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EDBCB4-19B3-46B2-A76D-6DED9C2E0C15}" type="datetimeFigureOut">
              <a:rPr lang="en-US" smtClean="0"/>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0F82D-EA7A-48F3-A176-75C149094F6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EDBCB4-19B3-46B2-A76D-6DED9C2E0C15}" type="datetimeFigureOut">
              <a:rPr lang="en-US" smtClean="0"/>
              <a:t>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0F82D-EA7A-48F3-A176-75C149094F6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BBEDBCB4-19B3-46B2-A76D-6DED9C2E0C15}" type="datetimeFigureOut">
              <a:rPr lang="en-US" smtClean="0"/>
              <a:t>1/11/2024</a:t>
            </a:fld>
            <a:endParaRPr lang="en-U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U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B9C0F82D-EA7A-48F3-A176-75C149094F6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opencv/opencv/tree/master/data/haarcascades" TargetMode="External"/><Relationship Id="rId2" Type="http://schemas.openxmlformats.org/officeDocument/2006/relationships/hyperlink" Target="https://pjreddie.com/darknet/yolo/"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p:cNvSpPr txBox="1"/>
          <p:nvPr/>
        </p:nvSpPr>
        <p:spPr>
          <a:xfrm>
            <a:off x="1936376" y="76200"/>
            <a:ext cx="5257800" cy="4678204"/>
          </a:xfrm>
          <a:prstGeom prst="rect">
            <a:avLst/>
          </a:prstGeom>
          <a:noFill/>
        </p:spPr>
        <p:txBody>
          <a:bodyPr wrap="square" rtlCol="0">
            <a:spAutoFit/>
          </a:bodyPr>
          <a:lstStyle/>
          <a:p>
            <a:pPr algn="ctr"/>
            <a:r>
              <a:rPr lang="en-US" sz="2800" dirty="0" smtClean="0">
                <a:latin typeface="Times New Roman" pitchFamily="18" charset="0"/>
                <a:cs typeface="Times New Roman" pitchFamily="18" charset="0"/>
              </a:rPr>
              <a:t>Project Presentation </a:t>
            </a:r>
          </a:p>
          <a:p>
            <a:pPr algn="ctr"/>
            <a:r>
              <a:rPr lang="en-US" sz="2800" dirty="0" smtClean="0">
                <a:latin typeface="Times New Roman" pitchFamily="18" charset="0"/>
                <a:cs typeface="Times New Roman" pitchFamily="18" charset="0"/>
              </a:rPr>
              <a:t>on </a:t>
            </a:r>
          </a:p>
          <a:p>
            <a:pPr algn="ctr"/>
            <a:endParaRPr lang="en-US" sz="2800" dirty="0" smtClean="0">
              <a:latin typeface="Times New Roman" pitchFamily="18" charset="0"/>
              <a:cs typeface="Times New Roman" pitchFamily="18" charset="0"/>
            </a:endParaRPr>
          </a:p>
          <a:p>
            <a:pPr algn="ctr"/>
            <a:r>
              <a:rPr lang="en-IN" sz="2800" b="1" dirty="0">
                <a:latin typeface="Times New Roman" pitchFamily="18" charset="0"/>
                <a:cs typeface="Times New Roman" pitchFamily="18" charset="0"/>
              </a:rPr>
              <a:t>Auto assistant system for visually impaired </a:t>
            </a:r>
            <a:r>
              <a:rPr lang="en-IN" sz="2800" b="1" dirty="0" smtClean="0">
                <a:latin typeface="Times New Roman" pitchFamily="18" charset="0"/>
                <a:cs typeface="Times New Roman" pitchFamily="18" charset="0"/>
              </a:rPr>
              <a:t>persons</a:t>
            </a:r>
          </a:p>
          <a:p>
            <a:pPr algn="ctr"/>
            <a:endParaRPr lang="en-US" sz="2800" dirty="0">
              <a:latin typeface="Times New Roman" pitchFamily="18" charset="0"/>
              <a:cs typeface="Times New Roman" pitchFamily="18" charset="0"/>
            </a:endParaRPr>
          </a:p>
          <a:p>
            <a:pPr algn="ctr"/>
            <a:r>
              <a:rPr lang="en-US" sz="2800" dirty="0" smtClean="0">
                <a:latin typeface="Times New Roman" pitchFamily="18" charset="0"/>
                <a:cs typeface="Times New Roman" pitchFamily="18" charset="0"/>
              </a:rPr>
              <a:t>Using Object Detection </a:t>
            </a:r>
          </a:p>
          <a:p>
            <a:pPr algn="ctr"/>
            <a:r>
              <a:rPr lang="en-US" sz="2800" dirty="0" smtClean="0">
                <a:latin typeface="Times New Roman" pitchFamily="18" charset="0"/>
                <a:cs typeface="Times New Roman" pitchFamily="18" charset="0"/>
              </a:rPr>
              <a:t>&amp;</a:t>
            </a:r>
          </a:p>
          <a:p>
            <a:pPr algn="ctr"/>
            <a:r>
              <a:rPr lang="en-US" sz="2800" dirty="0" smtClean="0">
                <a:latin typeface="Times New Roman" pitchFamily="18" charset="0"/>
                <a:cs typeface="Times New Roman" pitchFamily="18" charset="0"/>
              </a:rPr>
              <a:t> Google text to speech</a:t>
            </a:r>
          </a:p>
          <a:p>
            <a:pPr algn="ctr"/>
            <a:endParaRPr lang="en-US" sz="2800" dirty="0">
              <a:latin typeface="Times New Roman" pitchFamily="18" charset="0"/>
              <a:cs typeface="Times New Roman" pitchFamily="18" charset="0"/>
            </a:endParaRPr>
          </a:p>
          <a:p>
            <a:pPr algn="ctr"/>
            <a:r>
              <a:rPr lang="en-US" dirty="0" smtClean="0">
                <a:latin typeface="Times New Roman" pitchFamily="18" charset="0"/>
                <a:cs typeface="Times New Roman" pitchFamily="18" charset="0"/>
              </a:rPr>
              <a:t>By: </a:t>
            </a:r>
            <a:r>
              <a:rPr lang="en-US" dirty="0" err="1" smtClean="0">
                <a:latin typeface="Times New Roman" pitchFamily="18" charset="0"/>
                <a:cs typeface="Times New Roman" pitchFamily="18" charset="0"/>
              </a:rPr>
              <a:t>Aditya</a:t>
            </a:r>
            <a:r>
              <a:rPr lang="en-US" dirty="0" smtClean="0">
                <a:latin typeface="Times New Roman" pitchFamily="18" charset="0"/>
                <a:cs typeface="Times New Roman" pitchFamily="18" charset="0"/>
              </a:rPr>
              <a:t> Singh </a:t>
            </a:r>
            <a:r>
              <a:rPr lang="en-US" dirty="0" err="1" smtClean="0">
                <a:latin typeface="Times New Roman" pitchFamily="18" charset="0"/>
                <a:cs typeface="Times New Roman" pitchFamily="18" charset="0"/>
              </a:rPr>
              <a:t>Mandrawal</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7020757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 y="457200"/>
            <a:ext cx="8991600" cy="4370427"/>
          </a:xfrm>
          <a:prstGeom prst="rect">
            <a:avLst/>
          </a:prstGeom>
          <a:noFill/>
        </p:spPr>
        <p:txBody>
          <a:bodyPr wrap="square" rtlCol="0">
            <a:spAutoFit/>
          </a:bodyPr>
          <a:lstStyle/>
          <a:p>
            <a:pPr algn="ctr"/>
            <a:r>
              <a:rPr lang="en-US" sz="4800" b="1" dirty="0" smtClean="0">
                <a:latin typeface="Times New Roman" pitchFamily="18" charset="0"/>
                <a:cs typeface="Times New Roman" pitchFamily="18" charset="0"/>
              </a:rPr>
              <a:t>Presentation Flow</a:t>
            </a:r>
          </a:p>
          <a:p>
            <a:pPr algn="ctr"/>
            <a:endParaRPr lang="en-US" sz="2800" dirty="0" smtClean="0">
              <a:latin typeface="Times New Roman" pitchFamily="18" charset="0"/>
              <a:cs typeface="Times New Roman" pitchFamily="18" charset="0"/>
            </a:endParaRPr>
          </a:p>
          <a:p>
            <a:pPr marL="342900" indent="-342900">
              <a:buAutoNum type="arabicPeriod"/>
            </a:pPr>
            <a:r>
              <a:rPr lang="en-US" sz="3200" dirty="0" smtClean="0">
                <a:latin typeface="Times New Roman" pitchFamily="18" charset="0"/>
                <a:cs typeface="Times New Roman" pitchFamily="18" charset="0"/>
              </a:rPr>
              <a:t>Motivation                  6. Methodology</a:t>
            </a:r>
          </a:p>
          <a:p>
            <a:pPr marL="342900" indent="-342900">
              <a:buAutoNum type="arabicPeriod"/>
            </a:pPr>
            <a:endParaRPr lang="en-US" sz="1050" dirty="0" smtClean="0">
              <a:latin typeface="Times New Roman" pitchFamily="18" charset="0"/>
              <a:cs typeface="Times New Roman" pitchFamily="18" charset="0"/>
            </a:endParaRPr>
          </a:p>
          <a:p>
            <a:pPr marL="342900" indent="-342900">
              <a:buAutoNum type="arabicPeriod"/>
            </a:pPr>
            <a:r>
              <a:rPr lang="en-US" sz="3200" dirty="0" smtClean="0">
                <a:latin typeface="Times New Roman" pitchFamily="18" charset="0"/>
                <a:cs typeface="Times New Roman" pitchFamily="18" charset="0"/>
              </a:rPr>
              <a:t> Introduction               7. Limitation</a:t>
            </a:r>
          </a:p>
          <a:p>
            <a:pPr marL="342900" indent="-342900">
              <a:buAutoNum type="arabicPeriod"/>
            </a:pPr>
            <a:endParaRPr lang="en-US" sz="1050" dirty="0" smtClean="0">
              <a:latin typeface="Times New Roman" pitchFamily="18" charset="0"/>
              <a:cs typeface="Times New Roman" pitchFamily="18" charset="0"/>
            </a:endParaRPr>
          </a:p>
          <a:p>
            <a:pPr marL="342900" indent="-342900">
              <a:buAutoNum type="arabicPeriod"/>
            </a:pPr>
            <a:r>
              <a:rPr lang="en-US" sz="3200" dirty="0" smtClean="0">
                <a:latin typeface="Times New Roman" pitchFamily="18" charset="0"/>
                <a:cs typeface="Times New Roman" pitchFamily="18" charset="0"/>
              </a:rPr>
              <a:t> Drawback                  8. Implementation Results</a:t>
            </a:r>
          </a:p>
          <a:p>
            <a:pPr marL="342900" indent="-342900">
              <a:buAutoNum type="arabicPeriod"/>
            </a:pPr>
            <a:endParaRPr lang="en-US" sz="1050" dirty="0" smtClean="0">
              <a:latin typeface="Times New Roman" pitchFamily="18" charset="0"/>
              <a:cs typeface="Times New Roman" pitchFamily="18" charset="0"/>
            </a:endParaRPr>
          </a:p>
          <a:p>
            <a:pPr marL="342900" indent="-342900">
              <a:buAutoNum type="arabicPeriod"/>
            </a:pPr>
            <a:r>
              <a:rPr lang="en-US" sz="3200" dirty="0" smtClean="0">
                <a:latin typeface="Times New Roman" pitchFamily="18" charset="0"/>
                <a:cs typeface="Times New Roman" pitchFamily="18" charset="0"/>
              </a:rPr>
              <a:t> YOLO                       9. Advantages &amp; Applications</a:t>
            </a:r>
          </a:p>
          <a:p>
            <a:pPr marL="342900" indent="-342900">
              <a:buAutoNum type="arabicPeriod"/>
            </a:pPr>
            <a:endParaRPr lang="en-US" sz="1050" dirty="0" smtClean="0">
              <a:latin typeface="Times New Roman" pitchFamily="18" charset="0"/>
              <a:cs typeface="Times New Roman" pitchFamily="18" charset="0"/>
            </a:endParaRPr>
          </a:p>
          <a:p>
            <a:pPr marL="342900" indent="-342900">
              <a:buAutoNum type="arabicPeriod"/>
            </a:pPr>
            <a:r>
              <a:rPr lang="en-US" sz="3200" dirty="0" smtClean="0">
                <a:latin typeface="Times New Roman" pitchFamily="18" charset="0"/>
                <a:cs typeface="Times New Roman" pitchFamily="18" charset="0"/>
              </a:rPr>
              <a:t> Block Diagram         10. Summary</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36442886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2400" y="457200"/>
            <a:ext cx="8763000" cy="4462760"/>
          </a:xfrm>
          <a:prstGeom prst="rect">
            <a:avLst/>
          </a:prstGeom>
          <a:noFill/>
        </p:spPr>
        <p:txBody>
          <a:bodyPr wrap="square" rtlCol="0">
            <a:spAutoFit/>
          </a:bodyPr>
          <a:lstStyle/>
          <a:p>
            <a:pPr algn="ctr"/>
            <a:r>
              <a:rPr lang="en-US" sz="3200" b="1" dirty="0" smtClean="0">
                <a:latin typeface="Times New Roman" pitchFamily="18" charset="0"/>
                <a:cs typeface="Times New Roman" pitchFamily="18" charset="0"/>
              </a:rPr>
              <a:t>Motivation</a:t>
            </a:r>
          </a:p>
          <a:p>
            <a:r>
              <a:rPr lang="en-US" sz="2800" dirty="0" smtClean="0">
                <a:latin typeface="Times New Roman" pitchFamily="18" charset="0"/>
                <a:cs typeface="Times New Roman" pitchFamily="18" charset="0"/>
              </a:rPr>
              <a:t>Many people suffer from temporary or permanent disabilities.</a:t>
            </a:r>
          </a:p>
          <a:p>
            <a:endParaRPr lang="en-US" sz="2800" dirty="0">
              <a:latin typeface="Times New Roman" pitchFamily="18" charset="0"/>
              <a:cs typeface="Times New Roman" pitchFamily="18" charset="0"/>
            </a:endParaRPr>
          </a:p>
          <a:p>
            <a:r>
              <a:rPr lang="en-US" sz="2800" b="1" dirty="0" smtClean="0">
                <a:latin typeface="Times New Roman" pitchFamily="18" charset="0"/>
                <a:cs typeface="Times New Roman" pitchFamily="18" charset="0"/>
              </a:rPr>
              <a:t>Current scenario:</a:t>
            </a:r>
          </a:p>
          <a:p>
            <a:endParaRPr lang="en-US" sz="2800" dirty="0">
              <a:latin typeface="Times New Roman" pitchFamily="18" charset="0"/>
              <a:cs typeface="Times New Roman" pitchFamily="18" charset="0"/>
            </a:endParaRPr>
          </a:p>
          <a:p>
            <a:pPr marL="457200" indent="-457200">
              <a:buFont typeface="Arial" pitchFamily="34" charset="0"/>
              <a:buChar char="•"/>
            </a:pPr>
            <a:r>
              <a:rPr lang="en-US" sz="2800" dirty="0" smtClean="0">
                <a:latin typeface="Times New Roman" pitchFamily="18" charset="0"/>
                <a:cs typeface="Times New Roman" pitchFamily="18" charset="0"/>
              </a:rPr>
              <a:t>Disable person has to depend on another person</a:t>
            </a:r>
          </a:p>
          <a:p>
            <a:pPr marL="457200" indent="-457200">
              <a:buFont typeface="Arial" pitchFamily="34" charset="0"/>
              <a:buChar char="•"/>
            </a:pPr>
            <a:r>
              <a:rPr lang="en-US" sz="2800" dirty="0" smtClean="0">
                <a:latin typeface="Times New Roman" pitchFamily="18" charset="0"/>
                <a:cs typeface="Times New Roman" pitchFamily="18" charset="0"/>
              </a:rPr>
              <a:t> A blind man stick is not able to detect the obstacle in path</a:t>
            </a:r>
          </a:p>
          <a:p>
            <a:pPr marL="457200" indent="-457200">
              <a:buFont typeface="Arial" pitchFamily="34" charset="0"/>
              <a:buChar char="•"/>
            </a:pPr>
            <a:r>
              <a:rPr lang="en-US" sz="2800" dirty="0" smtClean="0">
                <a:latin typeface="Times New Roman" pitchFamily="18" charset="0"/>
                <a:cs typeface="Times New Roman" pitchFamily="18" charset="0"/>
              </a:rPr>
              <a:t>Using wheelchair the safety of person is not guaranteed</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42044042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4325"/>
          <a:stretch/>
        </p:blipFill>
        <p:spPr>
          <a:xfrm>
            <a:off x="76200" y="0"/>
            <a:ext cx="8915400" cy="4957482"/>
          </a:xfrm>
          <a:prstGeom prst="rect">
            <a:avLst/>
          </a:prstGeom>
        </p:spPr>
      </p:pic>
    </p:spTree>
    <p:extLst>
      <p:ext uri="{BB962C8B-B14F-4D97-AF65-F5344CB8AC3E}">
        <p14:creationId xmlns:p14="http://schemas.microsoft.com/office/powerpoint/2010/main" val="16866720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2718" y="17929"/>
            <a:ext cx="8305800" cy="5016758"/>
          </a:xfrm>
          <a:prstGeom prst="rect">
            <a:avLst/>
          </a:prstGeom>
          <a:noFill/>
        </p:spPr>
        <p:txBody>
          <a:bodyPr wrap="square" rtlCol="0">
            <a:spAutoFit/>
          </a:bodyPr>
          <a:lstStyle/>
          <a:p>
            <a:pPr algn="ctr"/>
            <a:r>
              <a:rPr lang="en-US" sz="3200" b="1" dirty="0" smtClean="0">
                <a:latin typeface="Times New Roman" pitchFamily="18" charset="0"/>
                <a:cs typeface="Times New Roman" pitchFamily="18" charset="0"/>
              </a:rPr>
              <a:t>Introduction</a:t>
            </a:r>
          </a:p>
          <a:p>
            <a:r>
              <a:rPr lang="en-US" sz="2400" dirty="0" smtClean="0">
                <a:latin typeface="Times New Roman" pitchFamily="18" charset="0"/>
                <a:cs typeface="Times New Roman" pitchFamily="18" charset="0"/>
              </a:rPr>
              <a:t>Visually impaired individuals face many difficulties when they involve in self navigating.</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Manual or electrical wheelchairs satisfies disability, where the patients can use it independently.</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So, the core idea is to design an Auto-Assistance system.</a:t>
            </a:r>
          </a:p>
          <a:p>
            <a:endParaRPr lang="en-US" sz="2400" dirty="0" smtClean="0">
              <a:latin typeface="Times New Roman" pitchFamily="18" charset="0"/>
              <a:cs typeface="Times New Roman" pitchFamily="18" charset="0"/>
            </a:endParaRPr>
          </a:p>
          <a:p>
            <a:r>
              <a:rPr lang="en-US" sz="2400" b="1" dirty="0" err="1" smtClean="0">
                <a:latin typeface="Times New Roman" pitchFamily="18" charset="0"/>
                <a:cs typeface="Times New Roman" pitchFamily="18" charset="0"/>
              </a:rPr>
              <a:t>Constraints</a:t>
            </a:r>
            <a:r>
              <a:rPr lang="en-US" sz="2400" dirty="0" err="1" smtClean="0">
                <a:latin typeface="Times New Roman" pitchFamily="18" charset="0"/>
                <a:cs typeface="Times New Roman" pitchFamily="18" charset="0"/>
              </a:rPr>
              <a:t>:Working</a:t>
            </a:r>
            <a:r>
              <a:rPr lang="en-US" sz="2400" dirty="0" smtClean="0">
                <a:latin typeface="Times New Roman" pitchFamily="18" charset="0"/>
                <a:cs typeface="Times New Roman" pitchFamily="18" charset="0"/>
              </a:rPr>
              <a:t> with Small object with similar shape and size, and different back-ground </a:t>
            </a:r>
            <a:r>
              <a:rPr lang="en-US" sz="2400" dirty="0" err="1" smtClean="0">
                <a:latin typeface="Times New Roman" pitchFamily="18" charset="0"/>
                <a:cs typeface="Times New Roman" pitchFamily="18" charset="0"/>
              </a:rPr>
              <a:t>colour</a:t>
            </a:r>
            <a:r>
              <a:rPr lang="en-US" sz="2400" dirty="0" smtClean="0">
                <a:latin typeface="Times New Roman" pitchFamily="18" charset="0"/>
                <a:cs typeface="Times New Roman" pitchFamily="18" charset="0"/>
              </a:rPr>
              <a:t> etc.</a:t>
            </a:r>
          </a:p>
          <a:p>
            <a:r>
              <a:rPr lang="en-US" sz="2400" dirty="0" smtClean="0">
                <a:latin typeface="Times New Roman" pitchFamily="18" charset="0"/>
                <a:cs typeface="Times New Roman" pitchFamily="18" charset="0"/>
              </a:rPr>
              <a:t>Auto-Assistance system is designed to work in the Indoor environment like hospital, public garden area etc.</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1487834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r="2958"/>
          <a:stretch/>
        </p:blipFill>
        <p:spPr>
          <a:xfrm>
            <a:off x="-4481" y="-76200"/>
            <a:ext cx="9148482" cy="5334000"/>
          </a:xfrm>
          <a:prstGeom prst="rect">
            <a:avLst/>
          </a:prstGeom>
        </p:spPr>
      </p:pic>
    </p:spTree>
    <p:extLst>
      <p:ext uri="{BB962C8B-B14F-4D97-AF65-F5344CB8AC3E}">
        <p14:creationId xmlns:p14="http://schemas.microsoft.com/office/powerpoint/2010/main" val="39248932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081071" cy="5109882"/>
          </a:xfrm>
          <a:prstGeom prst="rect">
            <a:avLst/>
          </a:prstGeom>
        </p:spPr>
      </p:pic>
    </p:spTree>
    <p:extLst>
      <p:ext uri="{BB962C8B-B14F-4D97-AF65-F5344CB8AC3E}">
        <p14:creationId xmlns:p14="http://schemas.microsoft.com/office/powerpoint/2010/main" val="39987147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2183" r="4742"/>
          <a:stretch/>
        </p:blipFill>
        <p:spPr>
          <a:xfrm>
            <a:off x="237564" y="76200"/>
            <a:ext cx="8444753" cy="4953000"/>
          </a:xfrm>
          <a:prstGeom prst="rect">
            <a:avLst/>
          </a:prstGeom>
        </p:spPr>
      </p:pic>
    </p:spTree>
    <p:extLst>
      <p:ext uri="{BB962C8B-B14F-4D97-AF65-F5344CB8AC3E}">
        <p14:creationId xmlns:p14="http://schemas.microsoft.com/office/powerpoint/2010/main" val="32518784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400"/>
            <a:ext cx="9144000" cy="5181600"/>
          </a:xfrm>
          <a:prstGeom prst="rect">
            <a:avLst/>
          </a:prstGeom>
        </p:spPr>
      </p:pic>
    </p:spTree>
    <p:extLst>
      <p:ext uri="{BB962C8B-B14F-4D97-AF65-F5344CB8AC3E}">
        <p14:creationId xmlns:p14="http://schemas.microsoft.com/office/powerpoint/2010/main" val="17586964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45864"/>
            <a:ext cx="8991600" cy="5059536"/>
          </a:xfrm>
          <a:prstGeom prst="rect">
            <a:avLst/>
          </a:prstGeom>
        </p:spPr>
      </p:pic>
    </p:spTree>
    <p:extLst>
      <p:ext uri="{BB962C8B-B14F-4D97-AF65-F5344CB8AC3E}">
        <p14:creationId xmlns:p14="http://schemas.microsoft.com/office/powerpoint/2010/main" val="17982814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304800"/>
            <a:ext cx="7924800" cy="4401205"/>
          </a:xfrm>
          <a:prstGeom prst="rect">
            <a:avLst/>
          </a:prstGeom>
          <a:noFill/>
        </p:spPr>
        <p:txBody>
          <a:bodyPr wrap="square" rtlCol="0">
            <a:spAutoFit/>
          </a:bodyPr>
          <a:lstStyle/>
          <a:p>
            <a:pPr algn="ctr"/>
            <a:r>
              <a:rPr lang="en-US" sz="2800" dirty="0" smtClean="0">
                <a:latin typeface="Times New Roman" pitchFamily="18" charset="0"/>
                <a:cs typeface="Times New Roman" pitchFamily="18" charset="0"/>
              </a:rPr>
              <a:t>Literature Survey</a:t>
            </a:r>
          </a:p>
          <a:p>
            <a:endParaRPr lang="en-US" sz="2800" dirty="0">
              <a:latin typeface="Times New Roman" pitchFamily="18" charset="0"/>
              <a:cs typeface="Times New Roman" pitchFamily="18" charset="0"/>
            </a:endParaRPr>
          </a:p>
          <a:p>
            <a:r>
              <a:rPr lang="en-US" sz="2800" b="1" dirty="0" smtClean="0">
                <a:latin typeface="Times New Roman" pitchFamily="18" charset="0"/>
                <a:cs typeface="Times New Roman" pitchFamily="18" charset="0"/>
              </a:rPr>
              <a:t>Simple Convolutional Neural Network on Image Classification (IEEE-2017)</a:t>
            </a:r>
          </a:p>
          <a:p>
            <a:endParaRPr lang="en-US" sz="2800" dirty="0">
              <a:latin typeface="Times New Roman" pitchFamily="18" charset="0"/>
              <a:cs typeface="Times New Roman" pitchFamily="18" charset="0"/>
            </a:endParaRPr>
          </a:p>
          <a:p>
            <a:r>
              <a:rPr lang="en-US" sz="2800" dirty="0" err="1" smtClean="0">
                <a:latin typeface="Times New Roman" pitchFamily="18" charset="0"/>
                <a:cs typeface="Times New Roman" pitchFamily="18" charset="0"/>
              </a:rPr>
              <a:t>Tianmei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Guo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et.el</a:t>
            </a:r>
            <a:r>
              <a:rPr lang="en-US" sz="2800" dirty="0" smtClean="0">
                <a:latin typeface="Times New Roman" pitchFamily="18" charset="0"/>
                <a:cs typeface="Times New Roman" pitchFamily="18" charset="0"/>
              </a:rPr>
              <a:t> proposed about CNN which has less computation cost and examined different methods and optimization algorithms for learning rate set and image classification parameters. Shallow network for good recognition effect has been verified.</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9154863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5153" y="22412"/>
            <a:ext cx="8610600" cy="4893647"/>
          </a:xfrm>
          <a:prstGeom prst="rect">
            <a:avLst/>
          </a:prstGeom>
          <a:noFill/>
        </p:spPr>
        <p:txBody>
          <a:bodyPr wrap="square" rtlCol="0">
            <a:spAutoFit/>
          </a:bodyPr>
          <a:lstStyle/>
          <a:p>
            <a:pPr algn="ctr"/>
            <a:r>
              <a:rPr lang="en-US" sz="3200" b="1" dirty="0" smtClean="0">
                <a:latin typeface="Times New Roman" pitchFamily="18" charset="0"/>
                <a:cs typeface="Times New Roman" pitchFamily="18" charset="0"/>
              </a:rPr>
              <a:t>Why YOLO ?</a:t>
            </a:r>
          </a:p>
          <a:p>
            <a:endParaRPr lang="en-US" sz="2400" dirty="0" smtClean="0">
              <a:latin typeface="Times New Roman" pitchFamily="18" charset="0"/>
              <a:cs typeface="Times New Roman" pitchFamily="18" charset="0"/>
            </a:endParaRPr>
          </a:p>
          <a:p>
            <a:pPr marL="342900" indent="-342900">
              <a:buFont typeface="Wingdings" pitchFamily="2" charset="2"/>
              <a:buChar char="Ø"/>
            </a:pPr>
            <a:r>
              <a:rPr lang="en-US" sz="2400" dirty="0" smtClean="0">
                <a:latin typeface="Times New Roman" pitchFamily="18" charset="0"/>
                <a:cs typeface="Times New Roman" pitchFamily="18" charset="0"/>
              </a:rPr>
              <a:t>YOLO (You Only Look Once) is a network for object </a:t>
            </a:r>
            <a:r>
              <a:rPr lang="en-US" sz="2400" dirty="0" err="1" smtClean="0">
                <a:latin typeface="Times New Roman" pitchFamily="18" charset="0"/>
                <a:cs typeface="Times New Roman" pitchFamily="18" charset="0"/>
              </a:rPr>
              <a:t>detectionthat</a:t>
            </a:r>
            <a:r>
              <a:rPr lang="en-US" sz="2400" dirty="0" smtClean="0">
                <a:latin typeface="Times New Roman" pitchFamily="18" charset="0"/>
                <a:cs typeface="Times New Roman" pitchFamily="18" charset="0"/>
              </a:rPr>
              <a:t> consists of determining the location on the image where certain objects are present.</a:t>
            </a:r>
          </a:p>
          <a:p>
            <a:pPr marL="171450" indent="-171450">
              <a:buFont typeface="Wingdings" pitchFamily="2" charset="2"/>
              <a:buChar char="Ø"/>
            </a:pPr>
            <a:endParaRPr lang="en-US" sz="1200" dirty="0" smtClean="0">
              <a:latin typeface="Times New Roman" pitchFamily="18" charset="0"/>
              <a:cs typeface="Times New Roman" pitchFamily="18" charset="0"/>
            </a:endParaRPr>
          </a:p>
          <a:p>
            <a:pPr marL="342900" indent="-342900">
              <a:buFont typeface="Wingdings" pitchFamily="2" charset="2"/>
              <a:buChar char="Ø"/>
            </a:pPr>
            <a:r>
              <a:rPr lang="en-US" sz="2400" dirty="0" smtClean="0">
                <a:latin typeface="Times New Roman" pitchFamily="18" charset="0"/>
                <a:cs typeface="Times New Roman" pitchFamily="18" charset="0"/>
              </a:rPr>
              <a:t>Classifies object along with class probabilities for real time applications.</a:t>
            </a:r>
          </a:p>
          <a:p>
            <a:pPr marL="171450" indent="-171450">
              <a:buFont typeface="Wingdings" pitchFamily="2" charset="2"/>
              <a:buChar char="Ø"/>
            </a:pPr>
            <a:endParaRPr lang="en-US" sz="1200" dirty="0" smtClean="0">
              <a:latin typeface="Times New Roman" pitchFamily="18" charset="0"/>
              <a:cs typeface="Times New Roman" pitchFamily="18" charset="0"/>
            </a:endParaRPr>
          </a:p>
          <a:p>
            <a:pPr marL="342900" indent="-342900">
              <a:buFont typeface="Wingdings" pitchFamily="2" charset="2"/>
              <a:buChar char="Ø"/>
            </a:pPr>
            <a:r>
              <a:rPr lang="en-US" sz="2400" dirty="0" smtClean="0">
                <a:latin typeface="Times New Roman" pitchFamily="18" charset="0"/>
                <a:cs typeface="Times New Roman" pitchFamily="18" charset="0"/>
              </a:rPr>
              <a:t>It uses single CNN network for both localization and classification of objects using bounding box.</a:t>
            </a:r>
          </a:p>
          <a:p>
            <a:pPr marL="171450" indent="-171450">
              <a:buFont typeface="Wingdings" pitchFamily="2" charset="2"/>
              <a:buChar char="Ø"/>
            </a:pPr>
            <a:endParaRPr lang="en-US" sz="1200" dirty="0">
              <a:latin typeface="Times New Roman" pitchFamily="18" charset="0"/>
              <a:cs typeface="Times New Roman" pitchFamily="18" charset="0"/>
            </a:endParaRPr>
          </a:p>
          <a:p>
            <a:pPr marL="342900" indent="-342900">
              <a:buFont typeface="Wingdings" pitchFamily="2" charset="2"/>
              <a:buChar char="Ø"/>
            </a:pPr>
            <a:r>
              <a:rPr lang="en-US" sz="2400" dirty="0" smtClean="0">
                <a:latin typeface="Times New Roman" pitchFamily="18" charset="0"/>
                <a:cs typeface="Times New Roman" pitchFamily="18" charset="0"/>
              </a:rPr>
              <a:t>The YOLO design enables end-to-end training and real time speeds while maintaining high average precision.</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5880824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76200"/>
            <a:ext cx="8802267" cy="4953000"/>
          </a:xfrm>
          <a:prstGeom prst="rect">
            <a:avLst/>
          </a:prstGeom>
        </p:spPr>
      </p:pic>
    </p:spTree>
    <p:extLst>
      <p:ext uri="{BB962C8B-B14F-4D97-AF65-F5344CB8AC3E}">
        <p14:creationId xmlns:p14="http://schemas.microsoft.com/office/powerpoint/2010/main" val="27674133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52400"/>
            <a:ext cx="8109463" cy="4563162"/>
          </a:xfrm>
          <a:prstGeom prst="rect">
            <a:avLst/>
          </a:prstGeom>
        </p:spPr>
      </p:pic>
    </p:spTree>
    <p:extLst>
      <p:ext uri="{BB962C8B-B14F-4D97-AF65-F5344CB8AC3E}">
        <p14:creationId xmlns:p14="http://schemas.microsoft.com/office/powerpoint/2010/main" val="29905566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52400"/>
            <a:ext cx="7305882" cy="4110990"/>
          </a:xfrm>
          <a:prstGeom prst="rect">
            <a:avLst/>
          </a:prstGeom>
        </p:spPr>
      </p:pic>
    </p:spTree>
    <p:extLst>
      <p:ext uri="{BB962C8B-B14F-4D97-AF65-F5344CB8AC3E}">
        <p14:creationId xmlns:p14="http://schemas.microsoft.com/office/powerpoint/2010/main" val="8561452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7929"/>
            <a:ext cx="8396010" cy="4724401"/>
          </a:xfrm>
          <a:prstGeom prst="rect">
            <a:avLst/>
          </a:prstGeom>
        </p:spPr>
      </p:pic>
    </p:spTree>
    <p:extLst>
      <p:ext uri="{BB962C8B-B14F-4D97-AF65-F5344CB8AC3E}">
        <p14:creationId xmlns:p14="http://schemas.microsoft.com/office/powerpoint/2010/main" val="8449904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0"/>
            <a:ext cx="8839200" cy="4973783"/>
          </a:xfrm>
          <a:prstGeom prst="rect">
            <a:avLst/>
          </a:prstGeom>
        </p:spPr>
      </p:pic>
    </p:spTree>
    <p:extLst>
      <p:ext uri="{BB962C8B-B14F-4D97-AF65-F5344CB8AC3E}">
        <p14:creationId xmlns:p14="http://schemas.microsoft.com/office/powerpoint/2010/main" val="5548951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156" y="76200"/>
            <a:ext cx="8659843" cy="4872859"/>
          </a:xfrm>
          <a:prstGeom prst="rect">
            <a:avLst/>
          </a:prstGeom>
        </p:spPr>
      </p:pic>
    </p:spTree>
    <p:extLst>
      <p:ext uri="{BB962C8B-B14F-4D97-AF65-F5344CB8AC3E}">
        <p14:creationId xmlns:p14="http://schemas.microsoft.com/office/powerpoint/2010/main" val="34652019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81" y="-76200"/>
            <a:ext cx="9073105" cy="5105400"/>
          </a:xfrm>
          <a:prstGeom prst="rect">
            <a:avLst/>
          </a:prstGeom>
        </p:spPr>
      </p:pic>
    </p:spTree>
    <p:extLst>
      <p:ext uri="{BB962C8B-B14F-4D97-AF65-F5344CB8AC3E}">
        <p14:creationId xmlns:p14="http://schemas.microsoft.com/office/powerpoint/2010/main" val="35953197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b="78654"/>
          <a:stretch/>
        </p:blipFill>
        <p:spPr>
          <a:xfrm>
            <a:off x="914399" y="0"/>
            <a:ext cx="6493365" cy="779929"/>
          </a:xfrm>
          <a:prstGeom prst="rect">
            <a:avLst/>
          </a:prstGeom>
        </p:spPr>
      </p:pic>
      <p:sp>
        <p:nvSpPr>
          <p:cNvPr id="3" name="TextBox 2"/>
          <p:cNvSpPr txBox="1"/>
          <p:nvPr/>
        </p:nvSpPr>
        <p:spPr>
          <a:xfrm>
            <a:off x="457200" y="1138518"/>
            <a:ext cx="8305800" cy="3108543"/>
          </a:xfrm>
          <a:prstGeom prst="rect">
            <a:avLst/>
          </a:prstGeom>
          <a:noFill/>
        </p:spPr>
        <p:txBody>
          <a:bodyPr wrap="square" rtlCol="0">
            <a:spAutoFit/>
          </a:bodyPr>
          <a:lstStyle/>
          <a:p>
            <a:pPr marL="457200" indent="-457200">
              <a:buFont typeface="Wingdings" pitchFamily="2" charset="2"/>
              <a:buChar char="Ø"/>
            </a:pPr>
            <a:r>
              <a:rPr lang="en-US" sz="2800" dirty="0">
                <a:latin typeface="Times New Roman" pitchFamily="18" charset="0"/>
                <a:cs typeface="Times New Roman" pitchFamily="18" charset="0"/>
              </a:rPr>
              <a:t>Limited accuracy for small objects.</a:t>
            </a:r>
          </a:p>
          <a:p>
            <a:pPr marL="457200" indent="-457200">
              <a:buFont typeface="Wingdings" pitchFamily="2" charset="2"/>
              <a:buChar char="Ø"/>
            </a:pPr>
            <a:r>
              <a:rPr lang="en-US" sz="2800" dirty="0">
                <a:latin typeface="Times New Roman" pitchFamily="18" charset="0"/>
                <a:cs typeface="Times New Roman" pitchFamily="18" charset="0"/>
              </a:rPr>
              <a:t>Challenges with overlapping objects in dense scenes.</a:t>
            </a:r>
          </a:p>
          <a:p>
            <a:pPr marL="457200" indent="-457200">
              <a:buFont typeface="Wingdings" pitchFamily="2" charset="2"/>
              <a:buChar char="Ø"/>
            </a:pPr>
            <a:r>
              <a:rPr lang="en-US" sz="2800" dirty="0">
                <a:latin typeface="Times New Roman" pitchFamily="18" charset="0"/>
                <a:cs typeface="Times New Roman" pitchFamily="18" charset="0"/>
              </a:rPr>
              <a:t>Localization accuracy can be less precise.</a:t>
            </a:r>
          </a:p>
          <a:p>
            <a:pPr marL="457200" indent="-457200">
              <a:buFont typeface="Wingdings" pitchFamily="2" charset="2"/>
              <a:buChar char="Ø"/>
            </a:pPr>
            <a:r>
              <a:rPr lang="en-US" sz="2800" dirty="0">
                <a:latin typeface="Times New Roman" pitchFamily="18" charset="0"/>
                <a:cs typeface="Times New Roman" pitchFamily="18" charset="0"/>
              </a:rPr>
              <a:t>High computational complexity during training.</a:t>
            </a:r>
          </a:p>
          <a:p>
            <a:pPr marL="457200" indent="-457200">
              <a:buFont typeface="Wingdings" pitchFamily="2" charset="2"/>
              <a:buChar char="Ø"/>
            </a:pPr>
            <a:r>
              <a:rPr lang="en-US" sz="2800" dirty="0">
                <a:latin typeface="Times New Roman" pitchFamily="18" charset="0"/>
                <a:cs typeface="Times New Roman" pitchFamily="18" charset="0"/>
              </a:rPr>
              <a:t>Lack of inherent consideration for temporal information</a:t>
            </a:r>
            <a:r>
              <a:rPr lang="en-US" sz="2800" dirty="0" smtClean="0">
                <a:latin typeface="Times New Roman" pitchFamily="18" charset="0"/>
                <a:cs typeface="Times New Roman" pitchFamily="18" charset="0"/>
              </a:rPr>
              <a:t>.</a:t>
            </a:r>
            <a:br>
              <a:rPr lang="en-US" sz="2800" dirty="0" smtClean="0">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8057577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76" y="0"/>
            <a:ext cx="8937687" cy="5029200"/>
          </a:xfrm>
          <a:prstGeom prst="rect">
            <a:avLst/>
          </a:prstGeom>
        </p:spPr>
      </p:pic>
    </p:spTree>
    <p:extLst>
      <p:ext uri="{BB962C8B-B14F-4D97-AF65-F5344CB8AC3E}">
        <p14:creationId xmlns:p14="http://schemas.microsoft.com/office/powerpoint/2010/main" val="2930976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412" y="76200"/>
            <a:ext cx="7312652" cy="4114800"/>
          </a:xfrm>
          <a:prstGeom prst="rect">
            <a:avLst/>
          </a:prstGeom>
        </p:spPr>
      </p:pic>
    </p:spTree>
    <p:extLst>
      <p:ext uri="{BB962C8B-B14F-4D97-AF65-F5344CB8AC3E}">
        <p14:creationId xmlns:p14="http://schemas.microsoft.com/office/powerpoint/2010/main" val="17895923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76200"/>
            <a:ext cx="8802267" cy="4953000"/>
          </a:xfrm>
          <a:prstGeom prst="rect">
            <a:avLst/>
          </a:prstGeom>
        </p:spPr>
      </p:pic>
    </p:spTree>
    <p:extLst>
      <p:ext uri="{BB962C8B-B14F-4D97-AF65-F5344CB8AC3E}">
        <p14:creationId xmlns:p14="http://schemas.microsoft.com/office/powerpoint/2010/main" val="3931162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94" y="-76200"/>
            <a:ext cx="9073106" cy="5105400"/>
          </a:xfrm>
          <a:prstGeom prst="rect">
            <a:avLst/>
          </a:prstGeom>
        </p:spPr>
      </p:pic>
    </p:spTree>
    <p:extLst>
      <p:ext uri="{BB962C8B-B14F-4D97-AF65-F5344CB8AC3E}">
        <p14:creationId xmlns:p14="http://schemas.microsoft.com/office/powerpoint/2010/main" val="395499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2729" y="152400"/>
            <a:ext cx="8610600" cy="4647426"/>
          </a:xfrm>
          <a:prstGeom prst="rect">
            <a:avLst/>
          </a:prstGeom>
          <a:noFill/>
        </p:spPr>
        <p:txBody>
          <a:bodyPr wrap="square" rtlCol="0">
            <a:spAutoFit/>
          </a:bodyPr>
          <a:lstStyle/>
          <a:p>
            <a:pPr algn="ctr"/>
            <a:r>
              <a:rPr lang="en-US" sz="3200" b="1" dirty="0" smtClean="0">
                <a:latin typeface="Times New Roman" pitchFamily="18" charset="0"/>
                <a:cs typeface="Times New Roman" pitchFamily="18" charset="0"/>
              </a:rPr>
              <a:t>Advantages and Applications</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Advantages:</a:t>
            </a:r>
          </a:p>
          <a:p>
            <a:endParaRPr lang="en-US" sz="1200" dirty="0" smtClean="0">
              <a:latin typeface="Times New Roman" pitchFamily="18" charset="0"/>
              <a:cs typeface="Times New Roman" pitchFamily="18" charset="0"/>
            </a:endParaRPr>
          </a:p>
          <a:p>
            <a:pPr marL="285750" indent="-285750">
              <a:buFont typeface="Wingdings" pitchFamily="2" charset="2"/>
              <a:buChar char="Ø"/>
            </a:pPr>
            <a:r>
              <a:rPr lang="en-US" sz="2400" dirty="0" smtClean="0">
                <a:latin typeface="Times New Roman" pitchFamily="18" charset="0"/>
                <a:cs typeface="Times New Roman" pitchFamily="18" charset="0"/>
              </a:rPr>
              <a:t>Impaired person becomes self-reliant</a:t>
            </a:r>
          </a:p>
          <a:p>
            <a:pPr marL="285750" indent="-285750">
              <a:buFont typeface="Wingdings" pitchFamily="2" charset="2"/>
              <a:buChar char="Ø"/>
            </a:pPr>
            <a:r>
              <a:rPr lang="en-US" sz="2400" dirty="0" smtClean="0">
                <a:latin typeface="Times New Roman" pitchFamily="18" charset="0"/>
                <a:cs typeface="Times New Roman" pitchFamily="18" charset="0"/>
              </a:rPr>
              <a:t>Low </a:t>
            </a:r>
            <a:r>
              <a:rPr lang="en-US" sz="2400" dirty="0" err="1" smtClean="0">
                <a:latin typeface="Times New Roman" pitchFamily="18" charset="0"/>
                <a:cs typeface="Times New Roman" pitchFamily="18" charset="0"/>
              </a:rPr>
              <a:t>costLess</a:t>
            </a:r>
            <a:r>
              <a:rPr lang="en-US" sz="2400" dirty="0" smtClean="0">
                <a:latin typeface="Times New Roman" pitchFamily="18" charset="0"/>
                <a:cs typeface="Times New Roman" pitchFamily="18" charset="0"/>
              </a:rPr>
              <a:t> maintenance</a:t>
            </a:r>
          </a:p>
          <a:p>
            <a:pPr marL="285750" indent="-285750">
              <a:buFont typeface="Wingdings" pitchFamily="2" charset="2"/>
              <a:buChar char="Ø"/>
            </a:pPr>
            <a:r>
              <a:rPr lang="en-US" sz="2400" dirty="0" smtClean="0">
                <a:latin typeface="Times New Roman" pitchFamily="18" charset="0"/>
                <a:cs typeface="Times New Roman" pitchFamily="18" charset="0"/>
              </a:rPr>
              <a:t>Easy and convenient</a:t>
            </a:r>
          </a:p>
          <a:p>
            <a:pPr marL="285750" indent="-285750">
              <a:buFont typeface="Wingdings" pitchFamily="2" charset="2"/>
              <a:buChar char="Ø"/>
            </a:pPr>
            <a:r>
              <a:rPr lang="en-US" sz="2400" dirty="0" smtClean="0">
                <a:latin typeface="Times New Roman" pitchFamily="18" charset="0"/>
                <a:cs typeface="Times New Roman" pitchFamily="18" charset="0"/>
              </a:rPr>
              <a:t>Comfortable and safe</a:t>
            </a:r>
          </a:p>
          <a:p>
            <a:endParaRPr lang="en-US" sz="2400" dirty="0">
              <a:latin typeface="Times New Roman" pitchFamily="18" charset="0"/>
              <a:cs typeface="Times New Roman" pitchFamily="18" charset="0"/>
            </a:endParaRPr>
          </a:p>
          <a:p>
            <a:r>
              <a:rPr lang="en-US" sz="2400" dirty="0" smtClean="0">
                <a:latin typeface="Times New Roman" pitchFamily="18" charset="0"/>
                <a:cs typeface="Times New Roman" pitchFamily="18" charset="0"/>
              </a:rPr>
              <a:t>Application:</a:t>
            </a:r>
          </a:p>
          <a:p>
            <a:endParaRPr lang="en-US" sz="1200" dirty="0">
              <a:latin typeface="Times New Roman" pitchFamily="18" charset="0"/>
              <a:cs typeface="Times New Roman" pitchFamily="18" charset="0"/>
            </a:endParaRPr>
          </a:p>
          <a:p>
            <a:pPr marL="285750" indent="-285750">
              <a:buFont typeface="Wingdings" pitchFamily="2" charset="2"/>
              <a:buChar char="Ø"/>
            </a:pPr>
            <a:r>
              <a:rPr lang="en-US" sz="2400" dirty="0" smtClean="0">
                <a:latin typeface="Times New Roman" pitchFamily="18" charset="0"/>
                <a:cs typeface="Times New Roman" pitchFamily="18" charset="0"/>
              </a:rPr>
              <a:t>Hospital</a:t>
            </a:r>
          </a:p>
          <a:p>
            <a:pPr marL="285750" indent="-285750">
              <a:buFont typeface="Wingdings" pitchFamily="2" charset="2"/>
              <a:buChar char="Ø"/>
            </a:pPr>
            <a:r>
              <a:rPr lang="en-US" sz="2400" dirty="0" smtClean="0">
                <a:latin typeface="Times New Roman" pitchFamily="18" charset="0"/>
                <a:cs typeface="Times New Roman" pitchFamily="18" charset="0"/>
              </a:rPr>
              <a:t>Public garden area</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740972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152400"/>
            <a:ext cx="8610600" cy="4401205"/>
          </a:xfrm>
          <a:prstGeom prst="rect">
            <a:avLst/>
          </a:prstGeom>
          <a:noFill/>
        </p:spPr>
        <p:txBody>
          <a:bodyPr wrap="square" rtlCol="0">
            <a:spAutoFit/>
          </a:bodyPr>
          <a:lstStyle/>
          <a:p>
            <a:pPr algn="ctr"/>
            <a:r>
              <a:rPr lang="en-US" sz="3200" b="1" dirty="0" smtClean="0">
                <a:latin typeface="Times New Roman" pitchFamily="18" charset="0"/>
                <a:cs typeface="Times New Roman" pitchFamily="18" charset="0"/>
              </a:rPr>
              <a:t>References</a:t>
            </a:r>
          </a:p>
          <a:p>
            <a:pPr algn="ctr"/>
            <a:endParaRPr lang="en-US" sz="3200" b="1" dirty="0" smtClean="0">
              <a:latin typeface="Times New Roman" pitchFamily="18" charset="0"/>
              <a:cs typeface="Times New Roman" pitchFamily="18" charset="0"/>
            </a:endParaRPr>
          </a:p>
          <a:p>
            <a:pPr marL="342900" indent="-342900">
              <a:buAutoNum type="arabicPeriod"/>
            </a:pPr>
            <a:r>
              <a:rPr lang="en-US" sz="2400" dirty="0" smtClean="0">
                <a:latin typeface="Times New Roman" pitchFamily="18" charset="0"/>
                <a:cs typeface="Times New Roman" pitchFamily="18" charset="0"/>
              </a:rPr>
              <a:t>M. </a:t>
            </a:r>
            <a:r>
              <a:rPr lang="en-US" sz="2400" dirty="0" err="1" smtClean="0">
                <a:latin typeface="Times New Roman" pitchFamily="18" charset="0"/>
                <a:cs typeface="Times New Roman" pitchFamily="18" charset="0"/>
              </a:rPr>
              <a:t>Özçelikörs</a:t>
            </a:r>
            <a:r>
              <a:rPr lang="en-US" sz="2400" dirty="0" smtClean="0">
                <a:latin typeface="Times New Roman" pitchFamily="18" charset="0"/>
                <a:cs typeface="Times New Roman" pitchFamily="18" charset="0"/>
              </a:rPr>
              <a:t>, A. </a:t>
            </a:r>
            <a:r>
              <a:rPr lang="en-US" sz="2400" dirty="0" err="1" smtClean="0">
                <a:latin typeface="Times New Roman" pitchFamily="18" charset="0"/>
                <a:cs typeface="Times New Roman" pitchFamily="18" charset="0"/>
              </a:rPr>
              <a:t>Çoşkun</a:t>
            </a:r>
            <a:r>
              <a:rPr lang="en-US" sz="2400" dirty="0" smtClean="0">
                <a:latin typeface="Times New Roman" pitchFamily="18" charset="0"/>
                <a:cs typeface="Times New Roman" pitchFamily="18" charset="0"/>
              </a:rPr>
              <a:t>, M. G. Say, A. </a:t>
            </a:r>
            <a:r>
              <a:rPr lang="en-US" sz="2400" dirty="0" err="1" smtClean="0">
                <a:latin typeface="Times New Roman" pitchFamily="18" charset="0"/>
                <a:cs typeface="Times New Roman" pitchFamily="18" charset="0"/>
              </a:rPr>
              <a:t>Yazici</a:t>
            </a:r>
            <a:r>
              <a:rPr lang="en-US" sz="2400" dirty="0" smtClean="0">
                <a:latin typeface="Times New Roman" pitchFamily="18" charset="0"/>
                <a:cs typeface="Times New Roman" pitchFamily="18" charset="0"/>
              </a:rPr>
              <a:t>, U. </a:t>
            </a:r>
            <a:r>
              <a:rPr lang="en-US" sz="2400" dirty="0" err="1" smtClean="0">
                <a:latin typeface="Times New Roman" pitchFamily="18" charset="0"/>
                <a:cs typeface="Times New Roman" pitchFamily="18" charset="0"/>
              </a:rPr>
              <a:t>Yayan</a:t>
            </a:r>
            <a:r>
              <a:rPr lang="en-US" sz="2400" dirty="0" smtClean="0">
                <a:latin typeface="Times New Roman" pitchFamily="18" charset="0"/>
                <a:cs typeface="Times New Roman" pitchFamily="18" charset="0"/>
              </a:rPr>
              <a:t> and M. </a:t>
            </a:r>
            <a:r>
              <a:rPr lang="en-US" sz="2400" dirty="0" err="1" smtClean="0">
                <a:latin typeface="Times New Roman" pitchFamily="18" charset="0"/>
                <a:cs typeface="Times New Roman" pitchFamily="18" charset="0"/>
              </a:rPr>
              <a:t>Akçakoca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Kinect</a:t>
            </a:r>
            <a:r>
              <a:rPr lang="en-US" sz="2400" dirty="0" smtClean="0">
                <a:latin typeface="Times New Roman" pitchFamily="18" charset="0"/>
                <a:cs typeface="Times New Roman" pitchFamily="18" charset="0"/>
              </a:rPr>
              <a:t> based Intelligent Wheelchair navigation with potential fields," 2014 IEEE International Symposium on Innovations in Intelligent Systems and Applications (INISTA) Proceedings, </a:t>
            </a:r>
            <a:r>
              <a:rPr lang="en-US" sz="2400" dirty="0" err="1" smtClean="0">
                <a:latin typeface="Times New Roman" pitchFamily="18" charset="0"/>
                <a:cs typeface="Times New Roman" pitchFamily="18" charset="0"/>
              </a:rPr>
              <a:t>Alberobello</a:t>
            </a:r>
            <a:r>
              <a:rPr lang="en-US" sz="2400" dirty="0" smtClean="0">
                <a:latin typeface="Times New Roman" pitchFamily="18" charset="0"/>
                <a:cs typeface="Times New Roman" pitchFamily="18" charset="0"/>
              </a:rPr>
              <a:t>, 2014, pp. 330-337.</a:t>
            </a:r>
          </a:p>
          <a:p>
            <a:pPr marL="342900" indent="-342900">
              <a:buAutoNum type="arabicPeriod"/>
            </a:pPr>
            <a:r>
              <a:rPr lang="en-US" sz="2400" dirty="0" smtClean="0">
                <a:latin typeface="Times New Roman" pitchFamily="18" charset="0"/>
                <a:cs typeface="Times New Roman" pitchFamily="18" charset="0"/>
                <a:hlinkClick r:id="rId2"/>
              </a:rPr>
              <a:t>https://pjreddie.com/darknet/yolo/</a:t>
            </a:r>
            <a:endParaRPr lang="en-US" sz="2400" dirty="0" smtClean="0">
              <a:latin typeface="Times New Roman" pitchFamily="18" charset="0"/>
              <a:cs typeface="Times New Roman" pitchFamily="18" charset="0"/>
            </a:endParaRPr>
          </a:p>
          <a:p>
            <a:pPr marL="342900" indent="-342900">
              <a:buAutoNum type="arabicPeriod"/>
            </a:pPr>
            <a:r>
              <a:rPr lang="en-US" sz="2400" dirty="0" smtClean="0">
                <a:latin typeface="Times New Roman" pitchFamily="18" charset="0"/>
                <a:cs typeface="Times New Roman" pitchFamily="18" charset="0"/>
                <a:hlinkClick r:id="rId3"/>
              </a:rPr>
              <a:t>https://github.com/opencv/opencv/tree/master/data/haarcascades</a:t>
            </a:r>
            <a:endParaRPr lang="en-US" sz="2400" dirty="0" smtClean="0">
              <a:latin typeface="Times New Roman" pitchFamily="18" charset="0"/>
              <a:cs typeface="Times New Roman" pitchFamily="18" charset="0"/>
            </a:endParaRPr>
          </a:p>
          <a:p>
            <a:pPr marL="342900" indent="-342900">
              <a:buAutoNum type="arabicPeriod"/>
            </a:pPr>
            <a:r>
              <a:rPr lang="en-US" sz="2400" dirty="0" smtClean="0">
                <a:latin typeface="Times New Roman" pitchFamily="18" charset="0"/>
                <a:cs typeface="Times New Roman" pitchFamily="18" charset="0"/>
              </a:rPr>
              <a:t>https://www.pyimagesearch.com/2017/09/18/real-time-object-detection-with-deep-learning -and-</a:t>
            </a:r>
            <a:r>
              <a:rPr lang="en-US" sz="2400" dirty="0" err="1" smtClean="0">
                <a:latin typeface="Times New Roman" pitchFamily="18" charset="0"/>
                <a:cs typeface="Times New Roman" pitchFamily="18" charset="0"/>
              </a:rPr>
              <a:t>opencv</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6274163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466671"/>
            <a:ext cx="9144000" cy="1200329"/>
          </a:xfrm>
          <a:prstGeom prst="rect">
            <a:avLst/>
          </a:prstGeom>
          <a:noFill/>
        </p:spPr>
        <p:txBody>
          <a:bodyPr wrap="square" rtlCol="0">
            <a:spAutoFit/>
          </a:bodyPr>
          <a:lstStyle/>
          <a:p>
            <a:pPr algn="ctr"/>
            <a:r>
              <a:rPr lang="en-US" sz="7200" dirty="0" smtClean="0">
                <a:latin typeface="Times New Roman" pitchFamily="18" charset="0"/>
                <a:cs typeface="Times New Roman" pitchFamily="18" charset="0"/>
              </a:rPr>
              <a:t>Thank you</a:t>
            </a:r>
            <a:endParaRPr lang="en-US" sz="7200" dirty="0">
              <a:latin typeface="Times New Roman" pitchFamily="18" charset="0"/>
              <a:cs typeface="Times New Roman" pitchFamily="18" charset="0"/>
            </a:endParaRPr>
          </a:p>
        </p:txBody>
      </p:sp>
    </p:spTree>
    <p:extLst>
      <p:ext uri="{BB962C8B-B14F-4D97-AF65-F5344CB8AC3E}">
        <p14:creationId xmlns:p14="http://schemas.microsoft.com/office/powerpoint/2010/main" val="189593125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94</TotalTime>
  <Words>430</Words>
  <Application>Microsoft Office PowerPoint</Application>
  <PresentationFormat>On-screen Show (4:3)</PresentationFormat>
  <Paragraphs>77</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Angles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Acer</cp:lastModifiedBy>
  <cp:revision>9</cp:revision>
  <dcterms:created xsi:type="dcterms:W3CDTF">2024-01-11T08:49:25Z</dcterms:created>
  <dcterms:modified xsi:type="dcterms:W3CDTF">2024-01-11T10:23:49Z</dcterms:modified>
</cp:coreProperties>
</file>